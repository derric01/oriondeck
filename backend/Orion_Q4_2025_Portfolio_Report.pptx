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Arial"/>
              </a:defRPr>
            </a:pPr>
            <a:r>
              <a:rPr sz="1100" b="1" i="0" u="none" strike="noStrike">
                <a:solidFill>
                  <a:srgbClr val="1B3A6B"/>
                </a:solidFill>
                <a:latin typeface="Arial"/>
              </a:rPr>
              <a:t>Investment-Grade Tenancy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Tenancy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Investment Grade (66.7%)</c:v>
                </c:pt>
                <c:pt idx="1">
                  <c:v>Non-Investment Grade (33.3%)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66.7</c:v>
                </c:pt>
                <c:pt idx="1">
                  <c:v>33.3</c:v>
                </c:pt>
              </c:numCache>
            </c:numRef>
          </c:val>
        </c:ser>
        <c:firstSliceAng val="0"/>
        <c:holeSize val="60"/>
      </c:doughnutChart>
      <c:spPr>
        <a:solidFill>
          <a:srgbClr val="F1F5F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1F5F9"/>
    </a:solidFill>
    <a:ln w="12700" cap="flat">
      <a:solidFill>
        <a:srgbClr val="F1F5F9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ABR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Government &amp; Public Services</c:v>
                  </c:pt>
                  <c:pt idx="1">
                    <c:v>Health Care Equip. &amp; Services</c:v>
                  </c:pt>
                  <c:pt idx="2">
                    <c:v>Capital Goods</c:v>
                  </c:pt>
                  <c:pt idx="3">
                    <c:v>Financial Institutions</c:v>
                  </c:pt>
                  <c:pt idx="4">
                    <c:v>Software &amp; Services</c:v>
                  </c:pt>
                  <c:pt idx="5">
                    <c:v>Materials</c:v>
                  </c:pt>
                  <c:pt idx="6">
                    <c:v>Telecom Services</c:v>
                  </c:pt>
                  <c:pt idx="7">
                    <c:v>Commercial &amp; Prof. Services</c:v>
                  </c:pt>
                  <c:pt idx="8">
                    <c:v>Consumer Durables &amp; Apparel</c:v>
                  </c:pt>
                  <c:pt idx="9">
                    <c:v>Transportation</c:v>
                  </c:pt>
                  <c:pt idx="10">
                    <c:v>Other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18.3</c:v>
                </c:pt>
                <c:pt idx="1">
                  <c:v>13.7</c:v>
                </c:pt>
                <c:pt idx="2">
                  <c:v>10.8</c:v>
                </c:pt>
                <c:pt idx="3">
                  <c:v>10</c:v>
                </c:pt>
                <c:pt idx="4">
                  <c:v>9</c:v>
                </c:pt>
                <c:pt idx="5">
                  <c:v>7.7</c:v>
                </c:pt>
                <c:pt idx="6">
                  <c:v>6.7</c:v>
                </c:pt>
                <c:pt idx="7">
                  <c:v>5</c:v>
                </c:pt>
                <c:pt idx="8">
                  <c:v>4.1</c:v>
                </c:pt>
                <c:pt idx="9">
                  <c:v>4</c:v>
                </c:pt>
                <c:pt idx="10">
                  <c:v>10.7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 w="12700" cap="flat">
      <a:solidFill>
        <a:srgbClr val="CBD5E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ABR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Texas</c:v>
                  </c:pt>
                  <c:pt idx="1">
                    <c:v>New Jersey</c:v>
                  </c:pt>
                  <c:pt idx="2">
                    <c:v>New York</c:v>
                  </c:pt>
                  <c:pt idx="3">
                    <c:v>Kentucky</c:v>
                  </c:pt>
                  <c:pt idx="4">
                    <c:v>Colorado</c:v>
                  </c:pt>
                  <c:pt idx="5">
                    <c:v>California</c:v>
                  </c:pt>
                  <c:pt idx="6">
                    <c:v>Maryland</c:v>
                  </c:pt>
                  <c:pt idx="7">
                    <c:v>Virginia</c:v>
                  </c:pt>
                  <c:pt idx="8">
                    <c:v>Georgia</c:v>
                  </c:pt>
                  <c:pt idx="9">
                    <c:v>Tennessee</c:v>
                  </c:pt>
                  <c:pt idx="10">
                    <c:v>Other (18)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18.9</c:v>
                </c:pt>
                <c:pt idx="1">
                  <c:v>13.4</c:v>
                </c:pt>
                <c:pt idx="2">
                  <c:v>10</c:v>
                </c:pt>
                <c:pt idx="3">
                  <c:v>9.5</c:v>
                </c:pt>
                <c:pt idx="4">
                  <c:v>6</c:v>
                </c:pt>
                <c:pt idx="5">
                  <c:v>5.4</c:v>
                </c:pt>
                <c:pt idx="6">
                  <c:v>4.4</c:v>
                </c:pt>
                <c:pt idx="7">
                  <c:v>4.2</c:v>
                </c:pt>
                <c:pt idx="8">
                  <c:v>4.2</c:v>
                </c:pt>
                <c:pt idx="9">
                  <c:v>4.2</c:v>
                </c:pt>
                <c:pt idx="10">
                  <c:v>19.8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 w="12700" cap="flat">
      <a:solidFill>
        <a:srgbClr val="CBD5E1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34155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Traditional Office</c:v>
                </c:pt>
                <c:pt idx="1">
                  <c:v>Dedicated Use / Corporate</c:v>
                </c:pt>
                <c:pt idx="2">
                  <c:v>Medical Office / Life Sci</c:v>
                </c:pt>
                <c:pt idx="3">
                  <c:v>Government / Public Sector</c:v>
                </c:pt>
                <c:pt idx="4">
                  <c:v>Flex / Industrial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43.2</c:v>
                </c:pt>
                <c:pt idx="1">
                  <c:v>35.8</c:v>
                </c:pt>
                <c:pt idx="2">
                  <c:v>12.4</c:v>
                </c:pt>
                <c:pt idx="3">
                  <c:v>5.3</c:v>
                </c:pt>
                <c:pt idx="4">
                  <c:v>3.3</c:v>
                </c:pt>
              </c:numCache>
            </c:numRef>
          </c:val>
        </c:ser>
        <c:firstSliceAng val="0"/>
        <c:holeSize val="55"/>
      </c:doughnutChart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 w="12700" cap="flat">
      <a:solidFill>
        <a:srgbClr val="CBD5E1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Arial"/>
              </a:defRPr>
            </a:pPr>
            <a:r>
              <a:rPr sz="1100" b="1" i="0" u="none" strike="noStrike">
                <a:solidFill>
                  <a:srgbClr val="1B3A6B"/>
                </a:solidFill>
                <a:latin typeface="Arial"/>
              </a:rPr>
              <a:t>ABR Expiring by Year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ABR Expiring ($M)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</c:v>
                </c:pt>
                <c:pt idx="1">
                  <c:v>8.8</c:v>
                </c:pt>
                <c:pt idx="2">
                  <c:v>10.2</c:v>
                </c:pt>
                <c:pt idx="3">
                  <c:v>7.4</c:v>
                </c:pt>
                <c:pt idx="4">
                  <c:v>6.8</c:v>
                </c:pt>
                <c:pt idx="5">
                  <c:v>74.5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 w="12700" cap="flat">
      <a:solidFill>
        <a:srgbClr val="CBD5E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53682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3682" y="0"/>
            <a:ext cx="5107838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Properties Inc.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Quarterly Portfolio Report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·  NYSE: ONL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4572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87168"/>
            <a:ext cx="2157984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87168"/>
            <a:ext cx="21579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4203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06624" y="2487168"/>
            <a:ext cx="2157984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6624" y="2487168"/>
            <a:ext cx="21579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254203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06624" y="274320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78.7%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06624" y="310896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rentable SF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47488" y="2487168"/>
            <a:ext cx="2157984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7488" y="2487168"/>
            <a:ext cx="21579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54203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47488" y="274320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 yrs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47488" y="310896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wtd. avg. lease term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3547872"/>
            <a:ext cx="2157984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47872"/>
            <a:ext cx="21579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0273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 BASE RENT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80390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$111.3M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ABR, Dec 31 2025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06624" y="3547872"/>
            <a:ext cx="2157984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06624" y="3547872"/>
            <a:ext cx="21579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06624" y="360273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 / SF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06624" y="380390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$16.52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706624" y="416966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leases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47488" y="3547872"/>
            <a:ext cx="2157984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47488" y="3547872"/>
            <a:ext cx="21579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360273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INV.-GRADE TENANCY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47488" y="380390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047488" y="416966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ABR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96912" y="914400"/>
            <a:ext cx="46213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HIGHLIGHTS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96912" y="1389888"/>
            <a:ext cx="4621378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96912" y="1389888"/>
            <a:ext cx="4572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61504" y="1481328"/>
            <a:ext cx="4378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183,000 SF leased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61504" y="1847088"/>
            <a:ext cx="4378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&amp; renewed leases in Q4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96912" y="2468880"/>
            <a:ext cx="4621378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96912" y="2468880"/>
            <a:ext cx="4572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61504" y="2560320"/>
            <a:ext cx="4378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$32.0M in dispositions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61504" y="2926080"/>
            <a:ext cx="4378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properties sold in Q4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96912" y="3547872"/>
            <a:ext cx="4621378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96912" y="3547872"/>
            <a:ext cx="4572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61504" y="3639312"/>
            <a:ext cx="4378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$80.7M FY 2025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61504" y="4005072"/>
            <a:ext cx="4378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properties sold full year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96912" y="4626864"/>
            <a:ext cx="4621378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96912" y="4626864"/>
            <a:ext cx="4572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61504" y="4718304"/>
            <a:ext cx="4378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$0.02/sh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61504" y="5084064"/>
            <a:ext cx="4378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dividend declared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ONL  ·  Source: Company data as of Dec 31, 2025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PROPERTIES INC.  ·  Q4 2025 PORTFOLIO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HIGHLIGHTS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Highlights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841248"/>
            <a:ext cx="1143000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05840"/>
            <a:ext cx="1850136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05840"/>
            <a:ext cx="185013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069848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Properties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1271016"/>
            <a:ext cx="185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1773936"/>
            <a:ext cx="185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Dec 31, 2025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70760" y="1005840"/>
            <a:ext cx="1850136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70760" y="1005840"/>
            <a:ext cx="185013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0760" y="1069848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Leasable SF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70760" y="1271016"/>
            <a:ext cx="185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6.74M SF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70760" y="1773936"/>
            <a:ext cx="185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rentable area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175760" y="1005840"/>
            <a:ext cx="1850136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5760" y="1005840"/>
            <a:ext cx="185013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5760" y="1069848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 Base Rent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75760" y="1271016"/>
            <a:ext cx="185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$111.3M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75760" y="1773936"/>
            <a:ext cx="185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ABR, Dec 31 2025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080760" y="1005840"/>
            <a:ext cx="1850136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005840"/>
            <a:ext cx="185013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069848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80760" y="1271016"/>
            <a:ext cx="185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78.7%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80760" y="1773936"/>
            <a:ext cx="185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rentable SF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985760" y="1005840"/>
            <a:ext cx="1850136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85760" y="1005840"/>
            <a:ext cx="185013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5760" y="1069848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985760" y="1271016"/>
            <a:ext cx="185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 yrs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985760" y="1773936"/>
            <a:ext cx="185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wtd. avg. lease term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890760" y="1005840"/>
            <a:ext cx="1850136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90760" y="1005840"/>
            <a:ext cx="185013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90760" y="1069848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Inv.-Grade Tenancy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890760" y="1271016"/>
            <a:ext cx="185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890760" y="1773936"/>
            <a:ext cx="185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ABR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5760" y="2304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Tenants — Credit Profile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33472"/>
          <a:ext cx="56692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1280160"/>
                <a:gridCol w="118872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Tenant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Credit Rating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% of ABR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[US Federal Agency]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AA+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17.8%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A]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A-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10.0%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B]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BB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7.1%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C]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A-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4.4%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D]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BBB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4.1%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E]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BBB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3.7%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F]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BB+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G]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H]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BB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[Investment-Grade I]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BBB+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TOP 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66.7% IG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60.5%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6492240" y="2304288"/>
            <a:ext cx="530352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43" name="Chart 0" descr=""/>
          <p:cNvGraphicFramePr/>
          <p:nvPr/>
        </p:nvGraphicFramePr>
        <p:xfrm>
          <a:off x="6583680" y="237744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4" name="Shape 4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ONL  ·  Source: Company data as of Dec 31, 2025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PROPERTIES INC.  ·  Q4 2025 PORTFOLIO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COMPOSITION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Composition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841248"/>
            <a:ext cx="1143000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87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Asset Type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400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Asset 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Props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% ABR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</a:rPr>
                        <a:t>Traditional Office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3.08M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1628"/>
                          </a:solidFill>
                        </a:rPr>
                        <a:t>43.2%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Dedicated Use / Corporate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1.68M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1628"/>
                          </a:solidFill>
                        </a:rPr>
                        <a:t>35.8%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Medical Office / Life Sci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0.96M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1628"/>
                          </a:solidFill>
                        </a:rPr>
                        <a:t>12.4%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Government / Public Sector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0.62M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1628"/>
                          </a:solidFill>
                        </a:rPr>
                        <a:t>5.3%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Flex / Industrial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0.40M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A1628"/>
                          </a:solidFill>
                        </a:rPr>
                        <a:t>3.3%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58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6.74M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309360" y="987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Industry (% of ABR)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09360" y="1261872"/>
          <a:ext cx="54864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6309360" y="3767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Geography — Top 11 States (% of ABR)</a:t>
            </a:r>
            <a:endParaRPr lang="en-US" sz="11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6309360" y="4059936"/>
          <a:ext cx="5486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1"/>
          <p:cNvSpPr/>
          <p:nvPr/>
        </p:nvSpPr>
        <p:spPr>
          <a:xfrm>
            <a:off x="365760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Mix</a:t>
            </a:r>
            <a:endParaRPr lang="en-US" sz="110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365760" y="3822192"/>
          <a:ext cx="54864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Shape 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ONL  ·  Source: Company data as of Dec 31, 2025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PROPERTIES INC.  ·  Q4 2025 PORTFOLIO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ASSET-BY-ASSET PERFORMANCE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Asset-by-Asset Performance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841248"/>
            <a:ext cx="1143000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961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10-asset representative sample from the 58-property operating portfolio.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52144"/>
          <a:ext cx="114300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371600"/>
                <a:gridCol w="822960"/>
                <a:gridCol w="685800"/>
                <a:gridCol w="822960"/>
                <a:gridCol w="685800"/>
                <a:gridCol w="82296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Property / Location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Occ 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WALT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Expiry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Credit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Lake Cook Corp. Ctr — Deerfield, IL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Dedicated Use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574,604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$3.1M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6.0y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Dec 2031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IG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McLean Gov't Centre — McLean, VA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Government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186,000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$3.3M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6.7y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Sep 2032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AA+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Houston Corporate — Houston, TX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Dedicated Use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284,000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$3.2M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5.1y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Jan 2031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BBB+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Alpharetta Campus — Alpharetta, GA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Dedicated Use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218,000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$2.4M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5.5y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Jun 2031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BB+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Albany Gov't Svcs — Albany, NY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Government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168,000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$4.2M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7.5y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Jun 2033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AA+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NJ Princeton Research — Plainsboro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Medical Office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128,000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$3.6M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5.0y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Dec 2030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A+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Parsippany Campus — NJ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Traditional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166,000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62%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$1.8M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7.8y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Various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IG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Buffalo Campus — Buffalo, NY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Dedicated Use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160,000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$2.1M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2.3y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Apr 2028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BBB+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Louisville Medical — Louisville, KY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Medical Office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142,000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$3.6M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4.0y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Dec 2029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AA-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A1628"/>
                          </a:solidFill>
                        </a:rPr>
                        <a:t>Phoenix Medical — Phoenix, AZ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Medical Office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92,000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B3A6B"/>
                          </a:solidFill>
                        </a:rPr>
                        <a:t>$2.1M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9.3y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Mar 2036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</a:rPr>
                        <a:t>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6382512"/>
            <a:ext cx="128016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3642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occupied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840480" y="6382512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3360" y="63642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occupancy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315200" y="6382512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0" y="63642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 = multi-tenant expiries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ONL  ·  Source: Company data as of Dec 31, 2025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PROPERTIES INC.  ·  Q4 2025 PORTFOLIO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EXPIRY SCHEDULE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Expiry Schedule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841248"/>
            <a:ext cx="1143000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961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 expiring each year. A well-staggered profile minimises single-year rollover risk.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52144"/>
          <a:ext cx="5303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18872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 Leases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SF Expiring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ABR Expiring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% Portfolio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680K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$6.2M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5.4%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2027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940K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$8.8M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7.7%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2028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820K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$10.2M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8.9%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2029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610K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$7.4M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6.5%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2030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580K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$6.8M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6.0%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2031+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4,970K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$74.5M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65.4%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63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7,600K 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$111.3M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0" descr=""/>
          <p:cNvGraphicFramePr/>
          <p:nvPr/>
        </p:nvGraphicFramePr>
        <p:xfrm>
          <a:off x="6035040" y="1078992"/>
          <a:ext cx="57607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365760" y="4389120"/>
            <a:ext cx="5303520" cy="12618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4389120"/>
            <a:ext cx="73152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352" y="4443984"/>
            <a:ext cx="5047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65.4% of ABR expires 2031 or later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portfolio's long-dated lease profile provides significant income visibility. Only 5.4% of ABR expires in 2026, with a well-staggered schedule through 2030 limiting single-year rollover risk.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ONL  ·  Source: Company data as of Dec 31, 2025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PROPERTIES INC.  ·  Q4 2025 PORTFOLIO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DISPOSITION ACTIVITY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Disposition Activity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841248"/>
            <a:ext cx="1143000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50976"/>
            <a:ext cx="1850136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950976"/>
            <a:ext cx="18501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005840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PROPERTIES SOLD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207008"/>
            <a:ext cx="1850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1572768"/>
            <a:ext cx="185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70760" y="950976"/>
            <a:ext cx="1850136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70760" y="950976"/>
            <a:ext cx="18501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0760" y="1005840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GROSS PROCEEDS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70760" y="1207008"/>
            <a:ext cx="1850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$32.0M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70760" y="1572768"/>
            <a:ext cx="185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total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175760" y="950976"/>
            <a:ext cx="1850136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5760" y="950976"/>
            <a:ext cx="18501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5760" y="1005840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2025 PROPERTIES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75760" y="1207008"/>
            <a:ext cx="1850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75760" y="1572768"/>
            <a:ext cx="185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080760" y="950976"/>
            <a:ext cx="1850136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950976"/>
            <a:ext cx="18501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005840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2025 PROCEEDS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80760" y="1207008"/>
            <a:ext cx="1850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$80.7M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080760" y="1572768"/>
            <a:ext cx="185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 total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985760" y="950976"/>
            <a:ext cx="1850136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85760" y="950976"/>
            <a:ext cx="18501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5760" y="1005840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CARRY SAVINGS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85760" y="1207008"/>
            <a:ext cx="1850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$12.4M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985760" y="1572768"/>
            <a:ext cx="185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890760" y="950976"/>
            <a:ext cx="1850136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90760" y="950976"/>
            <a:ext cx="18501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90760" y="1005840"/>
            <a:ext cx="185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AVOIDED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890760" y="1207008"/>
            <a:ext cx="1850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~$95M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890760" y="1572768"/>
            <a:ext cx="185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reletting cost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5760" y="1938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Individual Disposition Transactions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9424"/>
          <a:ext cx="11430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463040"/>
                <a:gridCol w="822960"/>
                <a:gridCol w="1005840"/>
                <a:gridCol w="128016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Property Description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Asset 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Gross Price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Occupancy at Sale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Strategic Rationale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1628"/>
                          </a:solidFill>
                        </a:rPr>
                        <a:t>Southeast US — Vacant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Traditional Office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127,000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$11.8M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B3A6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Vacant — carry cost elimination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1628"/>
                          </a:solidFill>
                        </a:rPr>
                        <a:t>Midwest US — Near Vacant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Traditional Office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98,000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$9.4M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B3A6B"/>
                          </a:solidFill>
                        </a:rPr>
                        <a:t>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Anchor lease expiry Q1 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1628"/>
                          </a:solidFill>
                        </a:rPr>
                        <a:t>Sun Belt — Stabilised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Traditional Office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102,000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$10.8M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B3A6B"/>
                          </a:solidFill>
                        </a:rPr>
                        <a:t>78%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Strategic non-core disposition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Q4 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3 properties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Traditional Office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$32.0M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undefined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389120"/>
            <a:ext cx="11430000" cy="12618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65760" y="4389120"/>
            <a:ext cx="73152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30352" y="4443984"/>
            <a:ext cx="111739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Transformation Progress — Full Year 2025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sold 10 properties for $80.7M in FY 2025, eliminating approximately $12.4M in annual carrying costs and avoiding ~$95M in capital expenditures required to relet vacant space. The 2025 and 2026 disposition programme is expected to reduce the traditional office concentration from 43% to below 30% of ABR, accelerating the shift toward dedicated use assets with stronger renewal probability.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ONL  ·  Source: Company data as of Dec 31, 2025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PROPERTIES INC.  ·  Q4 2025 PORTFOLIO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OUTLOOK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5488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475488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51206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OUTLOOK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1042416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42416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1704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 PIPELINE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1517904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380K SF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0352" y="215798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negotiations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" y="2450592"/>
            <a:ext cx="3328416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578608"/>
            <a:ext cx="3401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Subsequent to quarter end, Orion completed a 3.0-year, 160,000 SF lease extension at its Buffalo, NY campus and a new 10.5-year, 23,000 SF lease at its Phoenix, AZ medical office property. Active negotiations on approximately 380,000 SF across eight properties are ongoing for 2026.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87952" y="1042416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87952" y="1042416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2544" y="11704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52544" y="1517904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516K SF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352544" y="215798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Post-quarter dispositions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52544" y="2450592"/>
            <a:ext cx="3328416" cy="228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2578608"/>
            <a:ext cx="3401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Subsequent to year end, Orion closed on two additional Non-Operating Property dispositions totalling approximately 516,000 SF. The Company continues to actively market traditional office assets and expects additional dispositions in 2026 as part of its ongoing portfolio transformation.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10144" y="1042416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0144" y="1042416"/>
            <a:ext cx="3657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736" y="11704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ALLOCATION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74736" y="1517904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35.8%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174736" y="215798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Use ABR (target: 50%+)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74736" y="2450592"/>
            <a:ext cx="3328416" cy="228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2578608"/>
            <a:ext cx="3401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intends to redeploy disposition proceeds into dedicated use assets — corporate headquarters, life sciences facilities, and medical office properties — where long-term lease structures and high tenant replacement costs provide superior income predictability relative to traditional multi-tenant office.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ONL  ·  Source: Company data as of Dec 31, 2025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PROPERTIES INC.  ·  Q4 2025 PORTFOLIO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BRAIND DATA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54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REPORT WAS GENERATED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87782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Braind ingested your raw lease and property data and produced every table, chart, and metric in this presentation automatically.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3657600" cy="473659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16736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48132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15179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INGESTION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0299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2,204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30352" y="26700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fields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" y="2980944"/>
            <a:ext cx="329184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089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property records + 81 individual lease records + 3 transaction records loaded from your property management system and CoStar API.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87952" y="1316736"/>
            <a:ext cx="3657600" cy="473659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87952" y="1316736"/>
            <a:ext cx="3657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1481328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5179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52544" y="20299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1ms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352544" y="26700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time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52544" y="2980944"/>
            <a:ext cx="3291840" cy="228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52544" y="31089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WALT, occupancy %, ABR, investment-grade %, industry classification, geographic breakdown, and lease expiry schedule — all calculated from individual lease records.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10144" y="1316736"/>
            <a:ext cx="3657600" cy="473659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0144" y="1316736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1481328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4736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68512" y="15179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74736" y="20299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slides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8174736" y="26700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quality output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174736" y="2980944"/>
            <a:ext cx="3291840" cy="228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4736" y="31089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presentation generated with all KPI cards, tables, charts, and narrative sections. Every number traces back to an individual lease record.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78224" y="3566160"/>
            <a:ext cx="16459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8224" y="35661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00416" y="3566160"/>
            <a:ext cx="16459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0416" y="35661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6163056"/>
            <a:ext cx="1143000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163056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BRAIND  —  The Operating System for Commercial Real Estate  ·  Every number in this report is traceable to its source data.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ONL  ·  Source: Company data as of Dec 31, 2025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Orion Properties Inc. — Q4 2025 Portfolio Report</dc:title>
  <dc:subject>PptxGenJS Presentation</dc:subject>
  <dc:creator>Braind</dc:creator>
  <cp:lastModifiedBy>Braind</cp:lastModifiedBy>
  <cp:revision>1</cp:revision>
  <dcterms:created xsi:type="dcterms:W3CDTF">2026-03-16T17:45:13Z</dcterms:created>
  <dcterms:modified xsi:type="dcterms:W3CDTF">2026-03-16T17:45:13Z</dcterms:modified>
</cp:coreProperties>
</file>